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132320" y="-1097280"/>
            <a:ext cx="3200400" cy="3200400"/>
          </a:xfrm>
          <a:prstGeom prst="ellipse">
            <a:avLst/>
          </a:prstGeom>
          <a:solidFill>
            <a:srgbClr val="00B4D8">
              <a:alpha val="18000"/>
            </a:srgbClr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863840" y="-457200"/>
            <a:ext cx="1828800" cy="1828800"/>
          </a:xfrm>
          <a:prstGeom prst="ellipse">
            <a:avLst/>
          </a:prstGeom>
          <a:solidFill>
            <a:srgbClr val="06D6A0">
              <a:alpha val="22000"/>
            </a:srgbClr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498080" y="3474720"/>
            <a:ext cx="2286000" cy="2286000"/>
          </a:xfrm>
          <a:prstGeom prst="ellipse">
            <a:avLst/>
          </a:prstGeom>
          <a:solidFill>
            <a:srgbClr val="FFB703">
              <a:alpha val="12000"/>
            </a:srgbClr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411480"/>
            <a:ext cx="2194560" cy="347472"/>
          </a:xfrm>
          <a:prstGeom prst="roundRect">
            <a:avLst>
              <a:gd name="adj" fmla="val 26316"/>
            </a:avLst>
          </a:prstGeom>
          <a:solidFill>
            <a:srgbClr val="00B4D8">
              <a:alpha val="80000"/>
            </a:srgbClr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402336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🛍  HACKATHON PROJECT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320040" y="1005840"/>
            <a:ext cx="8412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LocalMart</a:t>
            </a:r>
            <a:endParaRPr lang="en-US" sz="6800" dirty="0"/>
          </a:p>
        </p:txBody>
      </p:sp>
      <p:sp>
        <p:nvSpPr>
          <p:cNvPr id="9" name="Text 7"/>
          <p:cNvSpPr/>
          <p:nvPr/>
        </p:nvSpPr>
        <p:spPr>
          <a:xfrm>
            <a:off x="320040" y="1828800"/>
            <a:ext cx="8412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800" b="1" dirty="0">
                <a:solidFill>
                  <a:srgbClr val="00B4D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Connect</a:t>
            </a:r>
            <a:endParaRPr lang="en-US" sz="6800" dirty="0"/>
          </a:p>
        </p:txBody>
      </p:sp>
      <p:sp>
        <p:nvSpPr>
          <p:cNvPr id="10" name="Text 8"/>
          <p:cNvSpPr/>
          <p:nvPr/>
        </p:nvSpPr>
        <p:spPr>
          <a:xfrm>
            <a:off x="320040" y="2788920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i="1" dirty="0">
                <a:solidFill>
                  <a:srgbClr val="E8F4F8"/>
                </a:solidFill>
              </a:rPr>
              <a:t>Real-time prices. Nearby shops. Local delivery.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320040" y="3474720"/>
            <a:ext cx="2560320" cy="1280160"/>
          </a:xfrm>
          <a:prstGeom prst="rect">
            <a:avLst/>
          </a:prstGeom>
          <a:solidFill>
            <a:srgbClr val="1B2B3B"/>
          </a:solidFill>
          <a:ln w="12700">
            <a:solidFill>
              <a:srgbClr val="00B4D8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0040" y="3474720"/>
            <a:ext cx="2560320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84632" y="3621024"/>
            <a:ext cx="502920" cy="502920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pic>
        <p:nvPicPr>
          <p:cNvPr id="1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21208" y="3657600"/>
            <a:ext cx="411480" cy="411480"/>
          </a:xfrm>
          <a:prstGeom prst="rect">
            <a:avLst/>
          </a:prstGeom>
        </p:spPr>
      </p:pic>
      <p:sp>
        <p:nvSpPr>
          <p:cNvPr id="15" name="Text 12"/>
          <p:cNvSpPr/>
          <p:nvPr/>
        </p:nvSpPr>
        <p:spPr>
          <a:xfrm>
            <a:off x="1069848" y="3529584"/>
            <a:ext cx="16916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Local Shops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3154680" y="3474720"/>
            <a:ext cx="2560320" cy="1280160"/>
          </a:xfrm>
          <a:prstGeom prst="rect">
            <a:avLst/>
          </a:prstGeom>
          <a:solidFill>
            <a:srgbClr val="1B2B3B"/>
          </a:solidFill>
          <a:ln w="12700">
            <a:solidFill>
              <a:srgbClr val="00B4D8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3154680" y="3474720"/>
            <a:ext cx="2560320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3319272" y="3621024"/>
            <a:ext cx="502920" cy="502920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pic>
        <p:nvPicPr>
          <p:cNvPr id="1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55848" y="3657600"/>
            <a:ext cx="411480" cy="411480"/>
          </a:xfrm>
          <a:prstGeom prst="rect">
            <a:avLst/>
          </a:prstGeom>
        </p:spPr>
      </p:pic>
      <p:sp>
        <p:nvSpPr>
          <p:cNvPr id="20" name="Text 16"/>
          <p:cNvSpPr/>
          <p:nvPr/>
        </p:nvSpPr>
        <p:spPr>
          <a:xfrm>
            <a:off x="3904488" y="3529584"/>
            <a:ext cx="16916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Price Compare</a:t>
            </a:r>
            <a:endParaRPr lang="en-US" sz="1300" dirty="0"/>
          </a:p>
        </p:txBody>
      </p:sp>
      <p:sp>
        <p:nvSpPr>
          <p:cNvPr id="21" name="Shape 17"/>
          <p:cNvSpPr/>
          <p:nvPr/>
        </p:nvSpPr>
        <p:spPr>
          <a:xfrm>
            <a:off x="5989320" y="3474720"/>
            <a:ext cx="2560320" cy="1280160"/>
          </a:xfrm>
          <a:prstGeom prst="rect">
            <a:avLst/>
          </a:prstGeom>
          <a:solidFill>
            <a:srgbClr val="1B2B3B"/>
          </a:solidFill>
          <a:ln w="12700">
            <a:solidFill>
              <a:srgbClr val="00B4D8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12000"/>
              </a:srgbClr>
            </a:outerShdw>
          </a:effectLst>
        </p:spPr>
      </p:sp>
      <p:sp>
        <p:nvSpPr>
          <p:cNvPr id="22" name="Shape 18"/>
          <p:cNvSpPr/>
          <p:nvPr/>
        </p:nvSpPr>
        <p:spPr>
          <a:xfrm>
            <a:off x="5989320" y="3474720"/>
            <a:ext cx="2560320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3" name="Shape 19"/>
          <p:cNvSpPr/>
          <p:nvPr/>
        </p:nvSpPr>
        <p:spPr>
          <a:xfrm>
            <a:off x="6153912" y="3621024"/>
            <a:ext cx="502920" cy="502920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pic>
        <p:nvPicPr>
          <p:cNvPr id="2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90488" y="3657600"/>
            <a:ext cx="411480" cy="411480"/>
          </a:xfrm>
          <a:prstGeom prst="rect">
            <a:avLst/>
          </a:prstGeom>
        </p:spPr>
      </p:pic>
      <p:sp>
        <p:nvSpPr>
          <p:cNvPr id="25" name="Text 20"/>
          <p:cNvSpPr/>
          <p:nvPr/>
        </p:nvSpPr>
        <p:spPr>
          <a:xfrm>
            <a:off x="6739128" y="3529584"/>
            <a:ext cx="16916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Fast Delivery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85800"/>
            <a:ext cx="9144000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PROBLEM STATEMENT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65760" y="868680"/>
            <a:ext cx="8412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0D1B2A"/>
                </a:solidFill>
              </a:rPr>
              <a:t>Why does local shopping feel so broken?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" y="1463040"/>
            <a:ext cx="429768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AF0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28600" y="1463040"/>
            <a:ext cx="82296" cy="1463040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93192" y="1719072"/>
            <a:ext cx="658368" cy="658368"/>
          </a:xfrm>
          <a:prstGeom prst="ellipse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9768" y="1755648"/>
            <a:ext cx="566928" cy="566928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188720" y="155448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0D1B2A"/>
                </a:solidFill>
              </a:rPr>
              <a:t>No Price Visibility</a:t>
            </a:r>
            <a:endParaRPr lang="en-US" sz="1250" dirty="0"/>
          </a:p>
        </p:txBody>
      </p:sp>
      <p:sp>
        <p:nvSpPr>
          <p:cNvPr id="11" name="Text 8"/>
          <p:cNvSpPr/>
          <p:nvPr/>
        </p:nvSpPr>
        <p:spPr>
          <a:xfrm>
            <a:off x="1188720" y="1874520"/>
            <a:ext cx="32004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45566"/>
                </a:solidFill>
              </a:rPr>
              <a:t>Customers have no idea which nearby shop sells a product at the cheapest rate. They end up overpaying or visiting multiple stores.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4709160" y="1463040"/>
            <a:ext cx="429768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AF0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4709160" y="1463040"/>
            <a:ext cx="82296" cy="1463040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4873752" y="1719072"/>
            <a:ext cx="658368" cy="658368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10328" y="1755648"/>
            <a:ext cx="566928" cy="566928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5669280" y="155448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0D1B2A"/>
                </a:solidFill>
              </a:rPr>
              <a:t>Shopkeepers Stay Offline</a:t>
            </a:r>
            <a:endParaRPr lang="en-US" sz="1250" dirty="0"/>
          </a:p>
        </p:txBody>
      </p:sp>
      <p:sp>
        <p:nvSpPr>
          <p:cNvPr id="17" name="Text 13"/>
          <p:cNvSpPr/>
          <p:nvPr/>
        </p:nvSpPr>
        <p:spPr>
          <a:xfrm>
            <a:off x="5669280" y="1874520"/>
            <a:ext cx="32004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45566"/>
                </a:solidFill>
              </a:rPr>
              <a:t>Small local stores have zero digital presence. They lose customers to big e-commerce platforms without getting a fair chance.</a:t>
            </a:r>
            <a:endParaRPr lang="en-US" sz="1000" dirty="0"/>
          </a:p>
        </p:txBody>
      </p:sp>
      <p:sp>
        <p:nvSpPr>
          <p:cNvPr id="18" name="Shape 14"/>
          <p:cNvSpPr/>
          <p:nvPr/>
        </p:nvSpPr>
        <p:spPr>
          <a:xfrm>
            <a:off x="228600" y="3090672"/>
            <a:ext cx="429768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AF0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12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228600" y="3090672"/>
            <a:ext cx="82296" cy="1463040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20" name="Shape 16"/>
          <p:cNvSpPr/>
          <p:nvPr/>
        </p:nvSpPr>
        <p:spPr>
          <a:xfrm>
            <a:off x="393192" y="3346704"/>
            <a:ext cx="658368" cy="658368"/>
          </a:xfrm>
          <a:prstGeom prst="ellipse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9768" y="3383280"/>
            <a:ext cx="566928" cy="566928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1188720" y="3182112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0D1B2A"/>
                </a:solidFill>
              </a:rPr>
              <a:t>Wasted Time &amp; Travel</a:t>
            </a:r>
            <a:endParaRPr lang="en-US" sz="1250" dirty="0"/>
          </a:p>
        </p:txBody>
      </p:sp>
      <p:sp>
        <p:nvSpPr>
          <p:cNvPr id="23" name="Text 18"/>
          <p:cNvSpPr/>
          <p:nvPr/>
        </p:nvSpPr>
        <p:spPr>
          <a:xfrm>
            <a:off x="1188720" y="3502152"/>
            <a:ext cx="32004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45566"/>
                </a:solidFill>
              </a:rPr>
              <a:t>People physically visit multiple shops just to compare prices — wasting hours and fuel on something that should take seconds.</a:t>
            </a:r>
            <a:endParaRPr lang="en-US" sz="1000" dirty="0"/>
          </a:p>
        </p:txBody>
      </p:sp>
      <p:sp>
        <p:nvSpPr>
          <p:cNvPr id="24" name="Shape 19"/>
          <p:cNvSpPr/>
          <p:nvPr/>
        </p:nvSpPr>
        <p:spPr>
          <a:xfrm>
            <a:off x="4709160" y="3090672"/>
            <a:ext cx="429768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AF0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12000"/>
              </a:srgbClr>
            </a:outerShdw>
          </a:effectLst>
        </p:spPr>
      </p:sp>
      <p:sp>
        <p:nvSpPr>
          <p:cNvPr id="25" name="Shape 20"/>
          <p:cNvSpPr/>
          <p:nvPr/>
        </p:nvSpPr>
        <p:spPr>
          <a:xfrm>
            <a:off x="4709160" y="3090672"/>
            <a:ext cx="82296" cy="1463040"/>
          </a:xfrm>
          <a:prstGeom prst="rect">
            <a:avLst/>
          </a:prstGeom>
          <a:solidFill>
            <a:srgbClr val="6A4C93"/>
          </a:solidFill>
          <a:ln w="12700">
            <a:solidFill>
              <a:srgbClr val="6A4C93"/>
            </a:solidFill>
            <a:prstDash val="solid"/>
          </a:ln>
        </p:spPr>
      </p:sp>
      <p:sp>
        <p:nvSpPr>
          <p:cNvPr id="26" name="Shape 21"/>
          <p:cNvSpPr/>
          <p:nvPr/>
        </p:nvSpPr>
        <p:spPr>
          <a:xfrm>
            <a:off x="4873752" y="3346704"/>
            <a:ext cx="658368" cy="658368"/>
          </a:xfrm>
          <a:prstGeom prst="ellipse">
            <a:avLst/>
          </a:prstGeom>
          <a:solidFill>
            <a:srgbClr val="6A4C93"/>
          </a:solidFill>
          <a:ln w="12700">
            <a:solidFill>
              <a:srgbClr val="6A4C93"/>
            </a:solidFill>
            <a:prstDash val="solid"/>
          </a:ln>
        </p:spPr>
      </p:sp>
      <p:pic>
        <p:nvPicPr>
          <p:cNvPr id="2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10328" y="3383280"/>
            <a:ext cx="566928" cy="566928"/>
          </a:xfrm>
          <a:prstGeom prst="rect">
            <a:avLst/>
          </a:prstGeom>
        </p:spPr>
      </p:pic>
      <p:sp>
        <p:nvSpPr>
          <p:cNvPr id="28" name="Text 22"/>
          <p:cNvSpPr/>
          <p:nvPr/>
        </p:nvSpPr>
        <p:spPr>
          <a:xfrm>
            <a:off x="5669280" y="3182112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0D1B2A"/>
                </a:solidFill>
              </a:rPr>
              <a:t>No Local Delivery</a:t>
            </a:r>
            <a:endParaRPr lang="en-US" sz="1250" dirty="0"/>
          </a:p>
        </p:txBody>
      </p:sp>
      <p:sp>
        <p:nvSpPr>
          <p:cNvPr id="29" name="Text 23"/>
          <p:cNvSpPr/>
          <p:nvPr/>
        </p:nvSpPr>
        <p:spPr>
          <a:xfrm>
            <a:off x="5669280" y="3502152"/>
            <a:ext cx="32004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45566"/>
                </a:solidFill>
              </a:rPr>
              <a:t>Hyperlocal delivery from neighbourhood shops doesn't exist. Customers can't get products from a shop 500m away without going themselves.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0" y="-1371600"/>
            <a:ext cx="4572000" cy="4572000"/>
          </a:xfrm>
          <a:prstGeom prst="ellipse">
            <a:avLst/>
          </a:prstGeom>
          <a:solidFill>
            <a:srgbClr val="00B4D8">
              <a:alpha val="10000"/>
            </a:srgbClr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371600" y="2743200"/>
            <a:ext cx="3657600" cy="3657600"/>
          </a:xfrm>
          <a:prstGeom prst="ellipse">
            <a:avLst/>
          </a:prstGeom>
          <a:solidFill>
            <a:srgbClr val="06D6A0">
              <a:alpha val="10000"/>
            </a:srgbClr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B2B3B"/>
          </a:solidFill>
          <a:ln w="12700">
            <a:solidFill>
              <a:srgbClr val="1B2B3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640080"/>
            <a:ext cx="9144000" cy="45720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OUR SOLUTION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365760" y="777240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i="1" dirty="0">
                <a:solidFill>
                  <a:srgbClr val="06D6A0"/>
                </a:solidFill>
              </a:rPr>
              <a:t>One platform. Every shop. Best price.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228600" y="1371600"/>
            <a:ext cx="2743200" cy="3474720"/>
          </a:xfrm>
          <a:prstGeom prst="rect">
            <a:avLst/>
          </a:prstGeom>
          <a:solidFill>
            <a:srgbClr val="1B2B3B"/>
          </a:solidFill>
          <a:ln w="19050">
            <a:solidFill>
              <a:srgbClr val="00B4D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28600" y="1371600"/>
            <a:ext cx="2743200" cy="7315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97280" y="1554480"/>
            <a:ext cx="1005840" cy="1005840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3856" y="1591056"/>
            <a:ext cx="914400" cy="914400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365760" y="2633472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Discover &amp; Compare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393192" y="3090672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E8F4F8"/>
                </a:solidFill>
              </a:rPr>
              <a:t>✓  Browse shops by location</a:t>
            </a:r>
            <a:endParaRPr lang="en-US" sz="950" dirty="0"/>
          </a:p>
        </p:txBody>
      </p:sp>
      <p:sp>
        <p:nvSpPr>
          <p:cNvPr id="14" name="Text 11"/>
          <p:cNvSpPr/>
          <p:nvPr/>
        </p:nvSpPr>
        <p:spPr>
          <a:xfrm>
            <a:off x="393192" y="3621024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E8F4F8"/>
                </a:solidFill>
              </a:rPr>
              <a:t>✓  See real-time product prices</a:t>
            </a:r>
            <a:endParaRPr lang="en-US" sz="950" dirty="0"/>
          </a:p>
        </p:txBody>
      </p:sp>
      <p:sp>
        <p:nvSpPr>
          <p:cNvPr id="15" name="Text 12"/>
          <p:cNvSpPr/>
          <p:nvPr/>
        </p:nvSpPr>
        <p:spPr>
          <a:xfrm>
            <a:off x="393192" y="4151376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E8F4F8"/>
                </a:solidFill>
              </a:rPr>
              <a:t>✓  Compare across multiple stores instantly</a:t>
            </a:r>
            <a:endParaRPr lang="en-US" sz="950" dirty="0"/>
          </a:p>
        </p:txBody>
      </p:sp>
      <p:sp>
        <p:nvSpPr>
          <p:cNvPr id="16" name="Shape 13"/>
          <p:cNvSpPr/>
          <p:nvPr/>
        </p:nvSpPr>
        <p:spPr>
          <a:xfrm>
            <a:off x="3200400" y="1371600"/>
            <a:ext cx="2743200" cy="3474720"/>
          </a:xfrm>
          <a:prstGeom prst="rect">
            <a:avLst/>
          </a:prstGeom>
          <a:solidFill>
            <a:srgbClr val="1B2B3B"/>
          </a:solidFill>
          <a:ln w="19050">
            <a:solidFill>
              <a:srgbClr val="06D6A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3200400" y="1371600"/>
            <a:ext cx="2743200" cy="73152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4069080" y="1554480"/>
            <a:ext cx="1005840" cy="1005840"/>
          </a:xfrm>
          <a:prstGeom prst="ellipse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pic>
        <p:nvPicPr>
          <p:cNvPr id="1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05656" y="1591056"/>
            <a:ext cx="914400" cy="914400"/>
          </a:xfrm>
          <a:prstGeom prst="rect">
            <a:avLst/>
          </a:prstGeom>
        </p:spPr>
      </p:pic>
      <p:sp>
        <p:nvSpPr>
          <p:cNvPr id="20" name="Text 16"/>
          <p:cNvSpPr/>
          <p:nvPr/>
        </p:nvSpPr>
        <p:spPr>
          <a:xfrm>
            <a:off x="3337560" y="2633472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Shop Dashboard</a:t>
            </a:r>
            <a:endParaRPr lang="en-US" sz="1300" dirty="0"/>
          </a:p>
        </p:txBody>
      </p:sp>
      <p:sp>
        <p:nvSpPr>
          <p:cNvPr id="21" name="Text 17"/>
          <p:cNvSpPr/>
          <p:nvPr/>
        </p:nvSpPr>
        <p:spPr>
          <a:xfrm>
            <a:off x="3364992" y="3090672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E8F4F8"/>
                </a:solidFill>
              </a:rPr>
              <a:t>✓  Shopkeepers manage inventory</a:t>
            </a:r>
            <a:endParaRPr lang="en-US" sz="950" dirty="0"/>
          </a:p>
        </p:txBody>
      </p:sp>
      <p:sp>
        <p:nvSpPr>
          <p:cNvPr id="22" name="Text 18"/>
          <p:cNvSpPr/>
          <p:nvPr/>
        </p:nvSpPr>
        <p:spPr>
          <a:xfrm>
            <a:off x="3364992" y="3621024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E8F4F8"/>
                </a:solidFill>
              </a:rPr>
              <a:t>✓  Update prices in real time</a:t>
            </a:r>
            <a:endParaRPr lang="en-US" sz="950" dirty="0"/>
          </a:p>
        </p:txBody>
      </p:sp>
      <p:sp>
        <p:nvSpPr>
          <p:cNvPr id="23" name="Text 19"/>
          <p:cNvSpPr/>
          <p:nvPr/>
        </p:nvSpPr>
        <p:spPr>
          <a:xfrm>
            <a:off x="3364992" y="4151376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E8F4F8"/>
                </a:solidFill>
              </a:rPr>
              <a:t>✓  Reach more local customers</a:t>
            </a:r>
            <a:endParaRPr lang="en-US" sz="950" dirty="0"/>
          </a:p>
        </p:txBody>
      </p:sp>
      <p:sp>
        <p:nvSpPr>
          <p:cNvPr id="24" name="Shape 20"/>
          <p:cNvSpPr/>
          <p:nvPr/>
        </p:nvSpPr>
        <p:spPr>
          <a:xfrm>
            <a:off x="6172200" y="1371600"/>
            <a:ext cx="2743200" cy="3474720"/>
          </a:xfrm>
          <a:prstGeom prst="rect">
            <a:avLst/>
          </a:prstGeom>
          <a:solidFill>
            <a:srgbClr val="1B2B3B"/>
          </a:solidFill>
          <a:ln w="19050">
            <a:solidFill>
              <a:srgbClr val="FFB70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5" name="Shape 21"/>
          <p:cNvSpPr/>
          <p:nvPr/>
        </p:nvSpPr>
        <p:spPr>
          <a:xfrm>
            <a:off x="6172200" y="1371600"/>
            <a:ext cx="2743200" cy="73152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26" name="Shape 22"/>
          <p:cNvSpPr/>
          <p:nvPr/>
        </p:nvSpPr>
        <p:spPr>
          <a:xfrm>
            <a:off x="7040880" y="1554480"/>
            <a:ext cx="1005840" cy="1005840"/>
          </a:xfrm>
          <a:prstGeom prst="ellipse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pic>
        <p:nvPicPr>
          <p:cNvPr id="2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77456" y="1591056"/>
            <a:ext cx="914400" cy="914400"/>
          </a:xfrm>
          <a:prstGeom prst="rect">
            <a:avLst/>
          </a:prstGeom>
        </p:spPr>
      </p:pic>
      <p:sp>
        <p:nvSpPr>
          <p:cNvPr id="28" name="Text 23"/>
          <p:cNvSpPr/>
          <p:nvPr/>
        </p:nvSpPr>
        <p:spPr>
          <a:xfrm>
            <a:off x="6309360" y="2633472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Local Delivery</a:t>
            </a:r>
            <a:endParaRPr lang="en-US" sz="1300" dirty="0"/>
          </a:p>
        </p:txBody>
      </p:sp>
      <p:sp>
        <p:nvSpPr>
          <p:cNvPr id="29" name="Text 24"/>
          <p:cNvSpPr/>
          <p:nvPr/>
        </p:nvSpPr>
        <p:spPr>
          <a:xfrm>
            <a:off x="6336792" y="3090672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E8F4F8"/>
                </a:solidFill>
              </a:rPr>
              <a:t>✓  Order from nearby shops</a:t>
            </a:r>
            <a:endParaRPr lang="en-US" sz="950" dirty="0"/>
          </a:p>
        </p:txBody>
      </p:sp>
      <p:sp>
        <p:nvSpPr>
          <p:cNvPr id="30" name="Text 25"/>
          <p:cNvSpPr/>
          <p:nvPr/>
        </p:nvSpPr>
        <p:spPr>
          <a:xfrm>
            <a:off x="6336792" y="3621024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E8F4F8"/>
                </a:solidFill>
              </a:rPr>
              <a:t>✓  Hyperlocal delivery system</a:t>
            </a:r>
            <a:endParaRPr lang="en-US" sz="950" dirty="0"/>
          </a:p>
        </p:txBody>
      </p:sp>
      <p:sp>
        <p:nvSpPr>
          <p:cNvPr id="31" name="Text 26"/>
          <p:cNvSpPr/>
          <p:nvPr/>
        </p:nvSpPr>
        <p:spPr>
          <a:xfrm>
            <a:off x="6336792" y="4151376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E8F4F8"/>
                </a:solidFill>
              </a:rPr>
              <a:t>✓  Track your order live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85800"/>
            <a:ext cx="9144000" cy="54864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HOW IT WORKS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65760" y="82296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0D1B2A"/>
                </a:solidFill>
              </a:rPr>
              <a:t>A seamless experience for both customers and shopkeepers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228600" y="1325880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0B4D8"/>
                </a:solidFill>
              </a:rPr>
              <a:t>👤  CUSTOMER JOURNEY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28600" y="1764792"/>
            <a:ext cx="457200" cy="457200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28600" y="17556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1B2A"/>
                </a:solidFill>
              </a:rPr>
              <a:t>1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29768" y="2221992"/>
            <a:ext cx="54864" cy="329184"/>
          </a:xfrm>
          <a:prstGeom prst="rect">
            <a:avLst/>
          </a:prstGeom>
          <a:solidFill>
            <a:srgbClr val="00B4D8">
              <a:alpha val="60000"/>
            </a:srgbClr>
          </a:solidFill>
          <a:ln w="12700">
            <a:solidFill>
              <a:srgbClr val="00B4D8">
                <a:alpha val="6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04672" y="1719072"/>
            <a:ext cx="356616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4F0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914400" y="1755648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D1B2A"/>
                </a:solidFill>
              </a:rPr>
              <a:t>Search Product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914400" y="2029968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556677"/>
                </a:solidFill>
              </a:rPr>
              <a:t>Enter product name or scan barcode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228600" y="2569464"/>
            <a:ext cx="457200" cy="457200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28600" y="25603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1B2A"/>
                </a:solidFill>
              </a:rPr>
              <a:t>2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29768" y="3026664"/>
            <a:ext cx="54864" cy="329184"/>
          </a:xfrm>
          <a:prstGeom prst="rect">
            <a:avLst/>
          </a:prstGeom>
          <a:solidFill>
            <a:srgbClr val="00B4D8">
              <a:alpha val="60000"/>
            </a:srgbClr>
          </a:solidFill>
          <a:ln w="12700">
            <a:solidFill>
              <a:srgbClr val="00B4D8">
                <a:alpha val="60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04672" y="2523744"/>
            <a:ext cx="356616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4F0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914400" y="2560320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D1B2A"/>
                </a:solidFill>
              </a:rPr>
              <a:t>View Nearby Shops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914400" y="283464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556677"/>
                </a:solidFill>
              </a:rPr>
              <a:t>See shops on map with live prices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228600" y="3374136"/>
            <a:ext cx="457200" cy="457200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28600" y="33649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1B2A"/>
                </a:solidFill>
              </a:rPr>
              <a:t>3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429768" y="3831336"/>
            <a:ext cx="54864" cy="329184"/>
          </a:xfrm>
          <a:prstGeom prst="rect">
            <a:avLst/>
          </a:prstGeom>
          <a:solidFill>
            <a:srgbClr val="00B4D8">
              <a:alpha val="60000"/>
            </a:srgbClr>
          </a:solidFill>
          <a:ln w="12700">
            <a:solidFill>
              <a:srgbClr val="00B4D8">
                <a:alpha val="60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04672" y="3328416"/>
            <a:ext cx="356616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4F0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914400" y="3364992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D1B2A"/>
                </a:solidFill>
              </a:rPr>
              <a:t>Compare Prices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914400" y="3639312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556677"/>
                </a:solidFill>
              </a:rPr>
              <a:t>Side-by-side comparison, best price highlighted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228600" y="4178808"/>
            <a:ext cx="457200" cy="457200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28600" y="416966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1B2A"/>
                </a:solidFill>
              </a:rPr>
              <a:t>4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804672" y="4133088"/>
            <a:ext cx="356616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4F0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12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914400" y="4169664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D1B2A"/>
                </a:solidFill>
              </a:rPr>
              <a:t>Order &amp; Track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914400" y="4443984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556677"/>
                </a:solidFill>
              </a:rPr>
              <a:t>Place order, rider picks up &amp; delivers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4572000" y="1325880"/>
            <a:ext cx="36576" cy="3657600"/>
          </a:xfrm>
          <a:prstGeom prst="rect">
            <a:avLst/>
          </a:prstGeom>
          <a:solidFill>
            <a:srgbClr val="C8DDE8"/>
          </a:solidFill>
          <a:ln w="12700">
            <a:solidFill>
              <a:srgbClr val="C8DDE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800600" y="1325880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6D6A0"/>
                </a:solidFill>
              </a:rPr>
              <a:t>🏪  SHOPKEEPER JOURNEY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4800600" y="1764792"/>
            <a:ext cx="457200" cy="457200"/>
          </a:xfrm>
          <a:prstGeom prst="ellipse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800600" y="17556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1B2A"/>
                </a:solidFill>
              </a:rPr>
              <a:t>1</a:t>
            </a:r>
            <a:endParaRPr lang="en-US" sz="1400" dirty="0"/>
          </a:p>
        </p:txBody>
      </p:sp>
      <p:sp>
        <p:nvSpPr>
          <p:cNvPr id="34" name="Shape 32"/>
          <p:cNvSpPr/>
          <p:nvPr/>
        </p:nvSpPr>
        <p:spPr>
          <a:xfrm>
            <a:off x="5001768" y="2221992"/>
            <a:ext cx="54864" cy="329184"/>
          </a:xfrm>
          <a:prstGeom prst="rect">
            <a:avLst/>
          </a:prstGeom>
          <a:solidFill>
            <a:srgbClr val="06D6A0">
              <a:alpha val="60000"/>
            </a:srgbClr>
          </a:solidFill>
          <a:ln w="12700">
            <a:solidFill>
              <a:srgbClr val="06D6A0">
                <a:alpha val="6000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5376672" y="1719072"/>
            <a:ext cx="356616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4F0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12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5486400" y="1755648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D1B2A"/>
                </a:solidFill>
              </a:rPr>
              <a:t>Register Shop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5486400" y="2029968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556677"/>
                </a:solidFill>
              </a:rPr>
              <a:t>Create profile, add location &amp; category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4800600" y="2569464"/>
            <a:ext cx="457200" cy="457200"/>
          </a:xfrm>
          <a:prstGeom prst="ellipse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800600" y="25603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1B2A"/>
                </a:solidFill>
              </a:rPr>
              <a:t>2</a:t>
            </a:r>
            <a:endParaRPr lang="en-US" sz="1400" dirty="0"/>
          </a:p>
        </p:txBody>
      </p:sp>
      <p:sp>
        <p:nvSpPr>
          <p:cNvPr id="40" name="Shape 38"/>
          <p:cNvSpPr/>
          <p:nvPr/>
        </p:nvSpPr>
        <p:spPr>
          <a:xfrm>
            <a:off x="5001768" y="3026664"/>
            <a:ext cx="54864" cy="329184"/>
          </a:xfrm>
          <a:prstGeom prst="rect">
            <a:avLst/>
          </a:prstGeom>
          <a:solidFill>
            <a:srgbClr val="06D6A0">
              <a:alpha val="60000"/>
            </a:srgbClr>
          </a:solidFill>
          <a:ln w="12700">
            <a:solidFill>
              <a:srgbClr val="06D6A0">
                <a:alpha val="60000"/>
              </a:srgbClr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5376672" y="2523744"/>
            <a:ext cx="356616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4F0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12000"/>
              </a:srgbClr>
            </a:outerShdw>
          </a:effectLst>
        </p:spPr>
      </p:sp>
      <p:sp>
        <p:nvSpPr>
          <p:cNvPr id="42" name="Text 40"/>
          <p:cNvSpPr/>
          <p:nvPr/>
        </p:nvSpPr>
        <p:spPr>
          <a:xfrm>
            <a:off x="5486400" y="2560320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D1B2A"/>
                </a:solidFill>
              </a:rPr>
              <a:t>Add Products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5486400" y="283464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556677"/>
                </a:solidFill>
              </a:rPr>
              <a:t>List items with photos and prices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4800600" y="3374136"/>
            <a:ext cx="457200" cy="457200"/>
          </a:xfrm>
          <a:prstGeom prst="ellipse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800600" y="33649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1B2A"/>
                </a:solidFill>
              </a:rPr>
              <a:t>3</a:t>
            </a:r>
            <a:endParaRPr lang="en-US" sz="1400" dirty="0"/>
          </a:p>
        </p:txBody>
      </p:sp>
      <p:sp>
        <p:nvSpPr>
          <p:cNvPr id="46" name="Shape 44"/>
          <p:cNvSpPr/>
          <p:nvPr/>
        </p:nvSpPr>
        <p:spPr>
          <a:xfrm>
            <a:off x="5001768" y="3831336"/>
            <a:ext cx="54864" cy="329184"/>
          </a:xfrm>
          <a:prstGeom prst="rect">
            <a:avLst/>
          </a:prstGeom>
          <a:solidFill>
            <a:srgbClr val="06D6A0">
              <a:alpha val="60000"/>
            </a:srgbClr>
          </a:solidFill>
          <a:ln w="12700">
            <a:solidFill>
              <a:srgbClr val="06D6A0">
                <a:alpha val="60000"/>
              </a:srgbClr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5376672" y="3328416"/>
            <a:ext cx="356616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4F0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12000"/>
              </a:srgbClr>
            </a:outerShdw>
          </a:effectLst>
        </p:spPr>
      </p:sp>
      <p:sp>
        <p:nvSpPr>
          <p:cNvPr id="48" name="Text 46"/>
          <p:cNvSpPr/>
          <p:nvPr/>
        </p:nvSpPr>
        <p:spPr>
          <a:xfrm>
            <a:off x="5486400" y="3364992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D1B2A"/>
                </a:solidFill>
              </a:rPr>
              <a:t>Update Live Prices</a:t>
            </a:r>
            <a:endParaRPr lang="en-US" sz="1100" dirty="0"/>
          </a:p>
        </p:txBody>
      </p:sp>
      <p:sp>
        <p:nvSpPr>
          <p:cNvPr id="49" name="Text 47"/>
          <p:cNvSpPr/>
          <p:nvPr/>
        </p:nvSpPr>
        <p:spPr>
          <a:xfrm>
            <a:off x="5486400" y="3639312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556677"/>
                </a:solidFill>
              </a:rPr>
              <a:t>Edit prices anytime — reflects instantly</a:t>
            </a:r>
            <a:endParaRPr lang="en-US" sz="950" dirty="0"/>
          </a:p>
        </p:txBody>
      </p:sp>
      <p:sp>
        <p:nvSpPr>
          <p:cNvPr id="50" name="Shape 48"/>
          <p:cNvSpPr/>
          <p:nvPr/>
        </p:nvSpPr>
        <p:spPr>
          <a:xfrm>
            <a:off x="4800600" y="4178808"/>
            <a:ext cx="457200" cy="457200"/>
          </a:xfrm>
          <a:prstGeom prst="ellipse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4800600" y="416966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1B2A"/>
                </a:solidFill>
              </a:rPr>
              <a:t>4</a:t>
            </a:r>
            <a:endParaRPr lang="en-US" sz="1400" dirty="0"/>
          </a:p>
        </p:txBody>
      </p:sp>
      <p:sp>
        <p:nvSpPr>
          <p:cNvPr id="52" name="Shape 50"/>
          <p:cNvSpPr/>
          <p:nvPr/>
        </p:nvSpPr>
        <p:spPr>
          <a:xfrm>
            <a:off x="5376672" y="4133088"/>
            <a:ext cx="356616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4F0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12000"/>
              </a:srgbClr>
            </a:outerShdw>
          </a:effectLst>
        </p:spPr>
      </p:sp>
      <p:sp>
        <p:nvSpPr>
          <p:cNvPr id="53" name="Text 51"/>
          <p:cNvSpPr/>
          <p:nvPr/>
        </p:nvSpPr>
        <p:spPr>
          <a:xfrm>
            <a:off x="5486400" y="4169664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D1B2A"/>
                </a:solidFill>
              </a:rPr>
              <a:t>Manage Orders</a:t>
            </a:r>
            <a:endParaRPr lang="en-US" sz="1100" dirty="0"/>
          </a:p>
        </p:txBody>
      </p:sp>
      <p:sp>
        <p:nvSpPr>
          <p:cNvPr id="54" name="Text 52"/>
          <p:cNvSpPr/>
          <p:nvPr/>
        </p:nvSpPr>
        <p:spPr>
          <a:xfrm>
            <a:off x="5486400" y="4443984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556677"/>
                </a:solidFill>
              </a:rPr>
              <a:t>Accept/reject orders, assign delivery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B2B3B"/>
          </a:solidFill>
          <a:ln w="12700">
            <a:solidFill>
              <a:srgbClr val="1B2B3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85800"/>
            <a:ext cx="9144000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FEATURES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182880" y="914400"/>
            <a:ext cx="2724912" cy="1828800"/>
          </a:xfrm>
          <a:prstGeom prst="rect">
            <a:avLst/>
          </a:prstGeom>
          <a:solidFill>
            <a:srgbClr val="1B2B3B"/>
          </a:solidFill>
          <a:ln w="15240">
            <a:solidFill>
              <a:srgbClr val="00B4D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82880" y="914400"/>
            <a:ext cx="2724912" cy="6400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20040" y="1097280"/>
            <a:ext cx="566928" cy="566928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56616" y="1133856"/>
            <a:ext cx="475488" cy="47548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987552" y="1078992"/>
            <a:ext cx="18105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Live Location Map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320040" y="1719072"/>
            <a:ext cx="2450592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E8F4F8"/>
                </a:solidFill>
              </a:rPr>
              <a:t>Interactive map showing all nearby shops with products &amp; live pricing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3154680" y="914400"/>
            <a:ext cx="2724912" cy="1828800"/>
          </a:xfrm>
          <a:prstGeom prst="rect">
            <a:avLst/>
          </a:prstGeom>
          <a:solidFill>
            <a:srgbClr val="1B2B3B"/>
          </a:solidFill>
          <a:ln w="15240">
            <a:solidFill>
              <a:srgbClr val="06D6A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3154680" y="914400"/>
            <a:ext cx="2724912" cy="64008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3291840" y="1097280"/>
            <a:ext cx="566928" cy="566928"/>
          </a:xfrm>
          <a:prstGeom prst="ellipse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28416" y="1133856"/>
            <a:ext cx="475488" cy="475488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3959352" y="1078992"/>
            <a:ext cx="18105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Price Comparator</a:t>
            </a:r>
            <a:endParaRPr lang="en-US" sz="1050" dirty="0"/>
          </a:p>
        </p:txBody>
      </p:sp>
      <p:sp>
        <p:nvSpPr>
          <p:cNvPr id="16" name="Text 12"/>
          <p:cNvSpPr/>
          <p:nvPr/>
        </p:nvSpPr>
        <p:spPr>
          <a:xfrm>
            <a:off x="3291840" y="1719072"/>
            <a:ext cx="2450592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E8F4F8"/>
                </a:solidFill>
              </a:rPr>
              <a:t>Instantly compare the same product across 10+ shops in your area</a:t>
            </a:r>
            <a:endParaRPr lang="en-US" sz="900" dirty="0"/>
          </a:p>
        </p:txBody>
      </p:sp>
      <p:sp>
        <p:nvSpPr>
          <p:cNvPr id="17" name="Shape 13"/>
          <p:cNvSpPr/>
          <p:nvPr/>
        </p:nvSpPr>
        <p:spPr>
          <a:xfrm>
            <a:off x="6126480" y="914400"/>
            <a:ext cx="2724912" cy="1828800"/>
          </a:xfrm>
          <a:prstGeom prst="rect">
            <a:avLst/>
          </a:prstGeom>
          <a:solidFill>
            <a:srgbClr val="1B2B3B"/>
          </a:solidFill>
          <a:ln w="15240">
            <a:solidFill>
              <a:srgbClr val="FFB70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6126480" y="914400"/>
            <a:ext cx="2724912" cy="64008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6263640" y="1097280"/>
            <a:ext cx="566928" cy="566928"/>
          </a:xfrm>
          <a:prstGeom prst="ellipse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0216" y="1133856"/>
            <a:ext cx="475488" cy="475488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6931152" y="1078992"/>
            <a:ext cx="18105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Real-Time Price Updates</a:t>
            </a:r>
            <a:endParaRPr lang="en-US" sz="1050" dirty="0"/>
          </a:p>
        </p:txBody>
      </p:sp>
      <p:sp>
        <p:nvSpPr>
          <p:cNvPr id="22" name="Text 17"/>
          <p:cNvSpPr/>
          <p:nvPr/>
        </p:nvSpPr>
        <p:spPr>
          <a:xfrm>
            <a:off x="6263640" y="1719072"/>
            <a:ext cx="2450592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E8F4F8"/>
                </a:solidFill>
              </a:rPr>
              <a:t>Shopkeepers can update prices on the go — customers see changes instantly</a:t>
            </a:r>
            <a:endParaRPr lang="en-US" sz="900" dirty="0"/>
          </a:p>
        </p:txBody>
      </p:sp>
      <p:sp>
        <p:nvSpPr>
          <p:cNvPr id="23" name="Shape 18"/>
          <p:cNvSpPr/>
          <p:nvPr/>
        </p:nvSpPr>
        <p:spPr>
          <a:xfrm>
            <a:off x="182880" y="2926080"/>
            <a:ext cx="2724912" cy="1828800"/>
          </a:xfrm>
          <a:prstGeom prst="rect">
            <a:avLst/>
          </a:prstGeom>
          <a:solidFill>
            <a:srgbClr val="1B2B3B"/>
          </a:solidFill>
          <a:ln w="15240">
            <a:solidFill>
              <a:srgbClr val="E6394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4" name="Shape 19"/>
          <p:cNvSpPr/>
          <p:nvPr/>
        </p:nvSpPr>
        <p:spPr>
          <a:xfrm>
            <a:off x="182880" y="2926080"/>
            <a:ext cx="2724912" cy="64008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25" name="Shape 20"/>
          <p:cNvSpPr/>
          <p:nvPr/>
        </p:nvSpPr>
        <p:spPr>
          <a:xfrm>
            <a:off x="320040" y="3108960"/>
            <a:ext cx="566928" cy="566928"/>
          </a:xfrm>
          <a:prstGeom prst="ellipse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pic>
        <p:nvPicPr>
          <p:cNvPr id="2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6616" y="3145536"/>
            <a:ext cx="475488" cy="475488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987552" y="3090672"/>
            <a:ext cx="18105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Mobile-First Design</a:t>
            </a:r>
            <a:endParaRPr lang="en-US" sz="1050" dirty="0"/>
          </a:p>
        </p:txBody>
      </p:sp>
      <p:sp>
        <p:nvSpPr>
          <p:cNvPr id="28" name="Text 22"/>
          <p:cNvSpPr/>
          <p:nvPr/>
        </p:nvSpPr>
        <p:spPr>
          <a:xfrm>
            <a:off x="320040" y="3730752"/>
            <a:ext cx="2450592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E8F4F8"/>
                </a:solidFill>
              </a:rPr>
              <a:t>Responsive web app optimized for smartphones — works on any browser</a:t>
            </a:r>
            <a:endParaRPr lang="en-US" sz="900" dirty="0"/>
          </a:p>
        </p:txBody>
      </p:sp>
      <p:sp>
        <p:nvSpPr>
          <p:cNvPr id="29" name="Shape 23"/>
          <p:cNvSpPr/>
          <p:nvPr/>
        </p:nvSpPr>
        <p:spPr>
          <a:xfrm>
            <a:off x="3154680" y="2926080"/>
            <a:ext cx="2724912" cy="1828800"/>
          </a:xfrm>
          <a:prstGeom prst="rect">
            <a:avLst/>
          </a:prstGeom>
          <a:solidFill>
            <a:srgbClr val="1B2B3B"/>
          </a:solidFill>
          <a:ln w="15240">
            <a:solidFill>
              <a:srgbClr val="A78BF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0" name="Shape 24"/>
          <p:cNvSpPr/>
          <p:nvPr/>
        </p:nvSpPr>
        <p:spPr>
          <a:xfrm>
            <a:off x="3154680" y="2926080"/>
            <a:ext cx="2724912" cy="64008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31" name="Shape 25"/>
          <p:cNvSpPr/>
          <p:nvPr/>
        </p:nvSpPr>
        <p:spPr>
          <a:xfrm>
            <a:off x="3291840" y="3108960"/>
            <a:ext cx="566928" cy="566928"/>
          </a:xfrm>
          <a:prstGeom prst="ellipse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pic>
        <p:nvPicPr>
          <p:cNvPr id="3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28416" y="3145536"/>
            <a:ext cx="475488" cy="475488"/>
          </a:xfrm>
          <a:prstGeom prst="rect">
            <a:avLst/>
          </a:prstGeom>
        </p:spPr>
      </p:pic>
      <p:sp>
        <p:nvSpPr>
          <p:cNvPr id="33" name="Text 26"/>
          <p:cNvSpPr/>
          <p:nvPr/>
        </p:nvSpPr>
        <p:spPr>
          <a:xfrm>
            <a:off x="3959352" y="3090672"/>
            <a:ext cx="18105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Price Drop Alerts</a:t>
            </a:r>
            <a:endParaRPr lang="en-US" sz="1050" dirty="0"/>
          </a:p>
        </p:txBody>
      </p:sp>
      <p:sp>
        <p:nvSpPr>
          <p:cNvPr id="34" name="Text 27"/>
          <p:cNvSpPr/>
          <p:nvPr/>
        </p:nvSpPr>
        <p:spPr>
          <a:xfrm>
            <a:off x="3291840" y="3730752"/>
            <a:ext cx="2450592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E8F4F8"/>
                </a:solidFill>
              </a:rPr>
              <a:t>Users get notified when a product price drops in their preferred shops</a:t>
            </a:r>
            <a:endParaRPr lang="en-US" sz="900" dirty="0"/>
          </a:p>
        </p:txBody>
      </p:sp>
      <p:sp>
        <p:nvSpPr>
          <p:cNvPr id="35" name="Shape 28"/>
          <p:cNvSpPr/>
          <p:nvPr/>
        </p:nvSpPr>
        <p:spPr>
          <a:xfrm>
            <a:off x="6126480" y="2926080"/>
            <a:ext cx="2724912" cy="1828800"/>
          </a:xfrm>
          <a:prstGeom prst="rect">
            <a:avLst/>
          </a:prstGeom>
          <a:solidFill>
            <a:srgbClr val="1B2B3B"/>
          </a:solidFill>
          <a:ln w="15240">
            <a:solidFill>
              <a:srgbClr val="06D6A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6" name="Shape 29"/>
          <p:cNvSpPr/>
          <p:nvPr/>
        </p:nvSpPr>
        <p:spPr>
          <a:xfrm>
            <a:off x="6126480" y="2926080"/>
            <a:ext cx="2724912" cy="64008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37" name="Shape 30"/>
          <p:cNvSpPr/>
          <p:nvPr/>
        </p:nvSpPr>
        <p:spPr>
          <a:xfrm>
            <a:off x="6263640" y="3108960"/>
            <a:ext cx="566928" cy="566928"/>
          </a:xfrm>
          <a:prstGeom prst="ellipse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pic>
        <p:nvPicPr>
          <p:cNvPr id="38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00216" y="3145536"/>
            <a:ext cx="475488" cy="475488"/>
          </a:xfrm>
          <a:prstGeom prst="rect">
            <a:avLst/>
          </a:prstGeom>
        </p:spPr>
      </p:pic>
      <p:sp>
        <p:nvSpPr>
          <p:cNvPr id="39" name="Text 31"/>
          <p:cNvSpPr/>
          <p:nvPr/>
        </p:nvSpPr>
        <p:spPr>
          <a:xfrm>
            <a:off x="6931152" y="3090672"/>
            <a:ext cx="18105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Local Business Growth</a:t>
            </a:r>
            <a:endParaRPr lang="en-US" sz="1050" dirty="0"/>
          </a:p>
        </p:txBody>
      </p:sp>
      <p:sp>
        <p:nvSpPr>
          <p:cNvPr id="40" name="Text 32"/>
          <p:cNvSpPr/>
          <p:nvPr/>
        </p:nvSpPr>
        <p:spPr>
          <a:xfrm>
            <a:off x="6263640" y="3730752"/>
            <a:ext cx="2450592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E8F4F8"/>
                </a:solidFill>
              </a:rPr>
              <a:t>Small shops gain a digital storefront &amp; access to a wider customer base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85800"/>
            <a:ext cx="9144000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TECH STACK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28600" y="868680"/>
            <a:ext cx="1993392" cy="4572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28600" y="868680"/>
            <a:ext cx="19933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FRONTEND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28600" y="1325880"/>
            <a:ext cx="1993392" cy="3520440"/>
          </a:xfrm>
          <a:prstGeom prst="rect">
            <a:avLst/>
          </a:prstGeom>
          <a:solidFill>
            <a:srgbClr val="FFFFFF"/>
          </a:solidFill>
          <a:ln w="12700">
            <a:solidFill>
              <a:srgbClr val="00B4D8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38328" y="1508760"/>
            <a:ext cx="1773936" cy="566928"/>
          </a:xfrm>
          <a:prstGeom prst="rect">
            <a:avLst/>
          </a:prstGeom>
          <a:solidFill>
            <a:srgbClr val="F2F8FB"/>
          </a:solidFill>
          <a:ln w="12700">
            <a:solidFill>
              <a:srgbClr val="D8EBF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38328" y="1508760"/>
            <a:ext cx="54864" cy="56692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48056" y="1508760"/>
            <a:ext cx="16276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0D1B2A"/>
                </a:solidFill>
              </a:rPr>
              <a:t>React.js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38328" y="2286000"/>
            <a:ext cx="1773936" cy="566928"/>
          </a:xfrm>
          <a:prstGeom prst="rect">
            <a:avLst/>
          </a:prstGeom>
          <a:solidFill>
            <a:srgbClr val="F2F8FB"/>
          </a:solidFill>
          <a:ln w="12700">
            <a:solidFill>
              <a:srgbClr val="D8EBF4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38328" y="2286000"/>
            <a:ext cx="54864" cy="56692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48056" y="2286000"/>
            <a:ext cx="16276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0D1B2A"/>
                </a:solidFill>
              </a:rPr>
              <a:t>Tailwind CSS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38328" y="3063240"/>
            <a:ext cx="1773936" cy="566928"/>
          </a:xfrm>
          <a:prstGeom prst="rect">
            <a:avLst/>
          </a:prstGeom>
          <a:solidFill>
            <a:srgbClr val="F2F8FB"/>
          </a:solidFill>
          <a:ln w="12700">
            <a:solidFill>
              <a:srgbClr val="D8EBF4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38328" y="3063240"/>
            <a:ext cx="54864" cy="56692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48056" y="3063240"/>
            <a:ext cx="16276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0D1B2A"/>
                </a:solidFill>
              </a:rPr>
              <a:t>Google Maps API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38328" y="3840480"/>
            <a:ext cx="1773936" cy="566928"/>
          </a:xfrm>
          <a:prstGeom prst="rect">
            <a:avLst/>
          </a:prstGeom>
          <a:solidFill>
            <a:srgbClr val="F2F8FB"/>
          </a:solidFill>
          <a:ln w="12700">
            <a:solidFill>
              <a:srgbClr val="D8EBF4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38328" y="3840480"/>
            <a:ext cx="54864" cy="56692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48056" y="3840480"/>
            <a:ext cx="16276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0D1B2A"/>
                </a:solidFill>
              </a:rPr>
              <a:t>Axios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2441448" y="868680"/>
            <a:ext cx="1993392" cy="457200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441448" y="868680"/>
            <a:ext cx="19933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BACKEND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2441448" y="1325880"/>
            <a:ext cx="1993392" cy="3520440"/>
          </a:xfrm>
          <a:prstGeom prst="rect">
            <a:avLst/>
          </a:prstGeom>
          <a:solidFill>
            <a:srgbClr val="FFFFFF"/>
          </a:solidFill>
          <a:ln w="12700">
            <a:solidFill>
              <a:srgbClr val="06D6A0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2551176" y="1508760"/>
            <a:ext cx="1773936" cy="566928"/>
          </a:xfrm>
          <a:prstGeom prst="rect">
            <a:avLst/>
          </a:prstGeom>
          <a:solidFill>
            <a:srgbClr val="F2F8FB"/>
          </a:solidFill>
          <a:ln w="12700">
            <a:solidFill>
              <a:srgbClr val="D8EBF4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551176" y="1508760"/>
            <a:ext cx="54864" cy="566928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660904" y="1508760"/>
            <a:ext cx="16276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0D1B2A"/>
                </a:solidFill>
              </a:rPr>
              <a:t>Node.js + Express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2551176" y="2286000"/>
            <a:ext cx="1773936" cy="566928"/>
          </a:xfrm>
          <a:prstGeom prst="rect">
            <a:avLst/>
          </a:prstGeom>
          <a:solidFill>
            <a:srgbClr val="F2F8FB"/>
          </a:solidFill>
          <a:ln w="12700">
            <a:solidFill>
              <a:srgbClr val="D8EBF4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551176" y="2286000"/>
            <a:ext cx="54864" cy="566928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660904" y="2286000"/>
            <a:ext cx="16276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0D1B2A"/>
                </a:solidFill>
              </a:rPr>
              <a:t>REST APIs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2551176" y="3063240"/>
            <a:ext cx="1773936" cy="566928"/>
          </a:xfrm>
          <a:prstGeom prst="rect">
            <a:avLst/>
          </a:prstGeom>
          <a:solidFill>
            <a:srgbClr val="F2F8FB"/>
          </a:solidFill>
          <a:ln w="12700">
            <a:solidFill>
              <a:srgbClr val="D8EBF4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2551176" y="3063240"/>
            <a:ext cx="54864" cy="566928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660904" y="3063240"/>
            <a:ext cx="16276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0D1B2A"/>
                </a:solidFill>
              </a:rPr>
              <a:t>Socket.io (Live Updates)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2551176" y="3840480"/>
            <a:ext cx="1773936" cy="566928"/>
          </a:xfrm>
          <a:prstGeom prst="rect">
            <a:avLst/>
          </a:prstGeom>
          <a:solidFill>
            <a:srgbClr val="F2F8FB"/>
          </a:solidFill>
          <a:ln w="12700">
            <a:solidFill>
              <a:srgbClr val="D8EBF4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2551176" y="3840480"/>
            <a:ext cx="54864" cy="566928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660904" y="3840480"/>
            <a:ext cx="16276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0D1B2A"/>
                </a:solidFill>
              </a:rPr>
              <a:t>JWT Auth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4654296" y="868680"/>
            <a:ext cx="1993392" cy="457200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654296" y="868680"/>
            <a:ext cx="19933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1B2A"/>
                </a:solidFill>
              </a:rPr>
              <a:t>DATABASE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4654296" y="1325880"/>
            <a:ext cx="1993392" cy="35204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B703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12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4764024" y="1508760"/>
            <a:ext cx="1773936" cy="566928"/>
          </a:xfrm>
          <a:prstGeom prst="rect">
            <a:avLst/>
          </a:prstGeom>
          <a:solidFill>
            <a:srgbClr val="F2F8FB"/>
          </a:solidFill>
          <a:ln w="12700">
            <a:solidFill>
              <a:srgbClr val="D8EBF4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4764024" y="1508760"/>
            <a:ext cx="54864" cy="566928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873752" y="1508760"/>
            <a:ext cx="16276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0D1B2A"/>
                </a:solidFill>
              </a:rPr>
              <a:t>MongoDB Atlas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4764024" y="2286000"/>
            <a:ext cx="1773936" cy="566928"/>
          </a:xfrm>
          <a:prstGeom prst="rect">
            <a:avLst/>
          </a:prstGeom>
          <a:solidFill>
            <a:srgbClr val="F2F8FB"/>
          </a:solidFill>
          <a:ln w="12700">
            <a:solidFill>
              <a:srgbClr val="D8EBF4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4764024" y="2286000"/>
            <a:ext cx="54864" cy="566928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873752" y="2286000"/>
            <a:ext cx="16276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0D1B2A"/>
                </a:solidFill>
              </a:rPr>
              <a:t>Firebase Realtime DB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4764024" y="3063240"/>
            <a:ext cx="1773936" cy="566928"/>
          </a:xfrm>
          <a:prstGeom prst="rect">
            <a:avLst/>
          </a:prstGeom>
          <a:solidFill>
            <a:srgbClr val="F2F8FB"/>
          </a:solidFill>
          <a:ln w="12700">
            <a:solidFill>
              <a:srgbClr val="D8EBF4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4764024" y="3063240"/>
            <a:ext cx="54864" cy="566928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873752" y="3063240"/>
            <a:ext cx="16276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0D1B2A"/>
                </a:solidFill>
              </a:rPr>
              <a:t>Redis (Caching)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4764024" y="3840480"/>
            <a:ext cx="1773936" cy="566928"/>
          </a:xfrm>
          <a:prstGeom prst="rect">
            <a:avLst/>
          </a:prstGeom>
          <a:solidFill>
            <a:srgbClr val="F2F8FB"/>
          </a:solidFill>
          <a:ln w="12700">
            <a:solidFill>
              <a:srgbClr val="D8EBF4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4764024" y="3840480"/>
            <a:ext cx="54864" cy="566928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873752" y="3840480"/>
            <a:ext cx="16276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0D1B2A"/>
                </a:solidFill>
              </a:rPr>
              <a:t>Cloudinary (Images)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6867144" y="868680"/>
            <a:ext cx="1993392" cy="457200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6867144" y="868680"/>
            <a:ext cx="19933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DELIVERY</a:t>
            </a:r>
            <a:endParaRPr lang="en-US" sz="1200" dirty="0"/>
          </a:p>
        </p:txBody>
      </p:sp>
      <p:sp>
        <p:nvSpPr>
          <p:cNvPr id="52" name="Shape 50"/>
          <p:cNvSpPr/>
          <p:nvPr/>
        </p:nvSpPr>
        <p:spPr>
          <a:xfrm>
            <a:off x="6867144" y="1325880"/>
            <a:ext cx="1993392" cy="3520440"/>
          </a:xfrm>
          <a:prstGeom prst="rect">
            <a:avLst/>
          </a:prstGeom>
          <a:solidFill>
            <a:srgbClr val="FFFFFF"/>
          </a:solidFill>
          <a:ln w="12700">
            <a:solidFill>
              <a:srgbClr val="A78BFA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12000"/>
              </a:srgbClr>
            </a:outerShdw>
          </a:effectLst>
        </p:spPr>
      </p:sp>
      <p:sp>
        <p:nvSpPr>
          <p:cNvPr id="53" name="Shape 51"/>
          <p:cNvSpPr/>
          <p:nvPr/>
        </p:nvSpPr>
        <p:spPr>
          <a:xfrm>
            <a:off x="6976872" y="1508760"/>
            <a:ext cx="1773936" cy="566928"/>
          </a:xfrm>
          <a:prstGeom prst="rect">
            <a:avLst/>
          </a:prstGeom>
          <a:solidFill>
            <a:srgbClr val="F2F8FB"/>
          </a:solidFill>
          <a:ln w="12700">
            <a:solidFill>
              <a:srgbClr val="D8EBF4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6976872" y="1508760"/>
            <a:ext cx="54864" cy="566928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7086600" y="1508760"/>
            <a:ext cx="16276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0D1B2A"/>
                </a:solidFill>
              </a:rPr>
              <a:t>Geolocation API</a:t>
            </a:r>
            <a:endParaRPr lang="en-US" sz="1000" dirty="0"/>
          </a:p>
        </p:txBody>
      </p:sp>
      <p:sp>
        <p:nvSpPr>
          <p:cNvPr id="56" name="Shape 54"/>
          <p:cNvSpPr/>
          <p:nvPr/>
        </p:nvSpPr>
        <p:spPr>
          <a:xfrm>
            <a:off x="6976872" y="2286000"/>
            <a:ext cx="1773936" cy="566928"/>
          </a:xfrm>
          <a:prstGeom prst="rect">
            <a:avLst/>
          </a:prstGeom>
          <a:solidFill>
            <a:srgbClr val="F2F8FB"/>
          </a:solidFill>
          <a:ln w="12700">
            <a:solidFill>
              <a:srgbClr val="D8EBF4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6976872" y="2286000"/>
            <a:ext cx="54864" cy="566928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7086600" y="2286000"/>
            <a:ext cx="16276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0D1B2A"/>
                </a:solidFill>
              </a:rPr>
              <a:t>Rider Mobile App</a:t>
            </a:r>
            <a:endParaRPr lang="en-US" sz="1000" dirty="0"/>
          </a:p>
        </p:txBody>
      </p:sp>
      <p:sp>
        <p:nvSpPr>
          <p:cNvPr id="59" name="Shape 57"/>
          <p:cNvSpPr/>
          <p:nvPr/>
        </p:nvSpPr>
        <p:spPr>
          <a:xfrm>
            <a:off x="6976872" y="3063240"/>
            <a:ext cx="1773936" cy="566928"/>
          </a:xfrm>
          <a:prstGeom prst="rect">
            <a:avLst/>
          </a:prstGeom>
          <a:solidFill>
            <a:srgbClr val="F2F8FB"/>
          </a:solidFill>
          <a:ln w="12700">
            <a:solidFill>
              <a:srgbClr val="D8EBF4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6976872" y="3063240"/>
            <a:ext cx="54864" cy="566928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7086600" y="3063240"/>
            <a:ext cx="16276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0D1B2A"/>
                </a:solidFill>
              </a:rPr>
              <a:t>Push Notifications</a:t>
            </a:r>
            <a:endParaRPr lang="en-US" sz="1000" dirty="0"/>
          </a:p>
        </p:txBody>
      </p:sp>
      <p:sp>
        <p:nvSpPr>
          <p:cNvPr id="62" name="Shape 60"/>
          <p:cNvSpPr/>
          <p:nvPr/>
        </p:nvSpPr>
        <p:spPr>
          <a:xfrm>
            <a:off x="6976872" y="3840480"/>
            <a:ext cx="1773936" cy="566928"/>
          </a:xfrm>
          <a:prstGeom prst="rect">
            <a:avLst/>
          </a:prstGeom>
          <a:solidFill>
            <a:srgbClr val="F2F8FB"/>
          </a:solidFill>
          <a:ln w="12700">
            <a:solidFill>
              <a:srgbClr val="D8EBF4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6976872" y="3840480"/>
            <a:ext cx="54864" cy="566928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7086600" y="3840480"/>
            <a:ext cx="16276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0D1B2A"/>
                </a:solidFill>
              </a:rPr>
              <a:t>Route Optimization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B2B3B"/>
          </a:solidFill>
          <a:ln w="12700">
            <a:solidFill>
              <a:srgbClr val="1B2B3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85800"/>
            <a:ext cx="9144000" cy="54864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IMPACT &amp; BUSINESS MODEL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182880" y="841248"/>
            <a:ext cx="2743200" cy="1280160"/>
          </a:xfrm>
          <a:prstGeom prst="rect">
            <a:avLst/>
          </a:prstGeom>
          <a:solidFill>
            <a:srgbClr val="1B2B3B"/>
          </a:solidFill>
          <a:ln w="19050">
            <a:solidFill>
              <a:srgbClr val="00B4D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82880" y="841248"/>
            <a:ext cx="2743200" cy="6400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96012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0B4D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60M+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274320" y="155448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8F4F8"/>
                </a:solidFill>
              </a:rPr>
              <a:t>Kirana shops in India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154680" y="841248"/>
            <a:ext cx="2743200" cy="1280160"/>
          </a:xfrm>
          <a:prstGeom prst="rect">
            <a:avLst/>
          </a:prstGeom>
          <a:solidFill>
            <a:srgbClr val="1B2B3B"/>
          </a:solidFill>
          <a:ln w="19050">
            <a:solidFill>
              <a:srgbClr val="06D6A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154680" y="841248"/>
            <a:ext cx="2743200" cy="64008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46120" y="96012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6D6A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₹50L Cr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3246120" y="155448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8F4F8"/>
                </a:solidFill>
              </a:rPr>
              <a:t>Unorganised retail market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126480" y="841248"/>
            <a:ext cx="2743200" cy="1280160"/>
          </a:xfrm>
          <a:prstGeom prst="rect">
            <a:avLst/>
          </a:prstGeom>
          <a:solidFill>
            <a:srgbClr val="1B2B3B"/>
          </a:solidFill>
          <a:ln w="19050">
            <a:solidFill>
              <a:srgbClr val="FFB70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126480" y="841248"/>
            <a:ext cx="2743200" cy="64008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217920" y="96012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B70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82%</a:t>
            </a:r>
            <a:endParaRPr lang="en-US" sz="3000" dirty="0"/>
          </a:p>
        </p:txBody>
      </p:sp>
      <p:sp>
        <p:nvSpPr>
          <p:cNvPr id="16" name="Text 14"/>
          <p:cNvSpPr/>
          <p:nvPr/>
        </p:nvSpPr>
        <p:spPr>
          <a:xfrm>
            <a:off x="6217920" y="155448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8F4F8"/>
                </a:solidFill>
              </a:rPr>
              <a:t>Users prefer local but lack info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228600" y="2304288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B4D8"/>
                </a:solidFill>
              </a:rPr>
              <a:t>HOW WE MAKE MONEY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228600" y="2697480"/>
            <a:ext cx="4114800" cy="658368"/>
          </a:xfrm>
          <a:prstGeom prst="rect">
            <a:avLst/>
          </a:prstGeom>
          <a:solidFill>
            <a:srgbClr val="1B2B3B"/>
          </a:solidFill>
          <a:ln w="10160">
            <a:solidFill>
              <a:srgbClr val="00B4D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2734056"/>
            <a:ext cx="3794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₹  Subscription Plans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65760" y="3008376"/>
            <a:ext cx="3794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F4F8"/>
                </a:solidFill>
              </a:rPr>
              <a:t>Shops pay monthly fee for premium dashboard &amp; analytics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228600" y="3474720"/>
            <a:ext cx="4114800" cy="658368"/>
          </a:xfrm>
          <a:prstGeom prst="rect">
            <a:avLst/>
          </a:prstGeom>
          <a:solidFill>
            <a:srgbClr val="1B2B3B"/>
          </a:solidFill>
          <a:ln w="10160">
            <a:solidFill>
              <a:srgbClr val="00B4D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65760" y="3511296"/>
            <a:ext cx="3794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₹  Delivery Commission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365760" y="3785616"/>
            <a:ext cx="3794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F4F8"/>
                </a:solidFill>
              </a:rPr>
              <a:t>5-8% per completed delivery via platform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228600" y="4251960"/>
            <a:ext cx="4114800" cy="658368"/>
          </a:xfrm>
          <a:prstGeom prst="rect">
            <a:avLst/>
          </a:prstGeom>
          <a:solidFill>
            <a:srgbClr val="1B2B3B"/>
          </a:solidFill>
          <a:ln w="10160">
            <a:solidFill>
              <a:srgbClr val="00B4D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65760" y="4288536"/>
            <a:ext cx="3794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₹  Featured Listings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365760" y="4562856"/>
            <a:ext cx="3794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F4F8"/>
                </a:solidFill>
              </a:rPr>
              <a:t>Shops pay to appear at top of search results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4754880" y="2304288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D6A0"/>
                </a:solidFill>
              </a:rPr>
              <a:t>SOCIAL IMPACT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4754880" y="2724912"/>
            <a:ext cx="292608" cy="292608"/>
          </a:xfrm>
          <a:prstGeom prst="ellipse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754880" y="271576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1B2A"/>
                </a:solidFill>
              </a:rPr>
              <a:t>✓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5166360" y="2697480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F4F8"/>
                </a:solidFill>
              </a:rPr>
              <a:t>Empowers small shopkeepers to compete with big e-commerce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4754880" y="3319272"/>
            <a:ext cx="292608" cy="292608"/>
          </a:xfrm>
          <a:prstGeom prst="ellipse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754880" y="331012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1B2A"/>
                </a:solidFill>
              </a:rPr>
              <a:t>✓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5166360" y="3291840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F4F8"/>
                </a:solidFill>
              </a:rPr>
              <a:t>Reduces unnecessary travel — better for environment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4754880" y="3913632"/>
            <a:ext cx="292608" cy="292608"/>
          </a:xfrm>
          <a:prstGeom prst="ellipse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754880" y="390448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1B2A"/>
                </a:solidFill>
              </a:rPr>
              <a:t>✓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5166360" y="3886200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F4F8"/>
                </a:solidFill>
              </a:rPr>
              <a:t>Brings transparency in local market pricing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4754880" y="4507992"/>
            <a:ext cx="292608" cy="292608"/>
          </a:xfrm>
          <a:prstGeom prst="ellipse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754880" y="449884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1B2A"/>
                </a:solidFill>
              </a:rPr>
              <a:t>✓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5166360" y="4480560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F4F8"/>
                </a:solidFill>
              </a:rPr>
              <a:t>Creates local delivery jobs in every neighbourhood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-1828800"/>
            <a:ext cx="5486400" cy="5486400"/>
          </a:xfrm>
          <a:prstGeom prst="ellipse">
            <a:avLst/>
          </a:prstGeom>
          <a:solidFill>
            <a:srgbClr val="00B4D8">
              <a:alpha val="12000"/>
            </a:srgbClr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400800" y="2286000"/>
            <a:ext cx="4114800" cy="4114800"/>
          </a:xfrm>
          <a:prstGeom prst="ellipse">
            <a:avLst/>
          </a:prstGeom>
          <a:solidFill>
            <a:srgbClr val="06D6A0">
              <a:alpha val="12000"/>
            </a:srgbClr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977640" y="320040"/>
            <a:ext cx="1188720" cy="11887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57200" y="146304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LocalMart Connect</a:t>
            </a:r>
            <a:endParaRPr lang="en-US" sz="4400" dirty="0"/>
          </a:p>
        </p:txBody>
      </p:sp>
      <p:sp>
        <p:nvSpPr>
          <p:cNvPr id="8" name="Text 5"/>
          <p:cNvSpPr/>
          <p:nvPr/>
        </p:nvSpPr>
        <p:spPr>
          <a:xfrm>
            <a:off x="457200" y="22860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06D6A0"/>
                </a:solidFill>
              </a:rPr>
              <a:t>Smarter shopping starts in your neighbourhood.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548640" y="2926080"/>
            <a:ext cx="1737360" cy="457200"/>
          </a:xfrm>
          <a:prstGeom prst="rect">
            <a:avLst/>
          </a:prstGeom>
          <a:solidFill>
            <a:srgbClr val="1B2B3B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48640" y="292608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B4D8"/>
                </a:solidFill>
              </a:rPr>
              <a:t>Real-time Prices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2560320" y="2926080"/>
            <a:ext cx="1737360" cy="457200"/>
          </a:xfrm>
          <a:prstGeom prst="rect">
            <a:avLst/>
          </a:prstGeom>
          <a:solidFill>
            <a:srgbClr val="1B2B3B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2560320" y="292608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B4D8"/>
                </a:solidFill>
              </a:rPr>
              <a:t>Local Delivery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4572000" y="2926080"/>
            <a:ext cx="1737360" cy="457200"/>
          </a:xfrm>
          <a:prstGeom prst="rect">
            <a:avLst/>
          </a:prstGeom>
          <a:solidFill>
            <a:srgbClr val="1B2B3B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4572000" y="292608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B4D8"/>
                </a:solidFill>
              </a:rPr>
              <a:t>Shopkeeper Dashboard</a:t>
            </a:r>
            <a:endParaRPr lang="en-US" sz="900" dirty="0"/>
          </a:p>
        </p:txBody>
      </p:sp>
      <p:sp>
        <p:nvSpPr>
          <p:cNvPr id="15" name="Shape 12"/>
          <p:cNvSpPr/>
          <p:nvPr/>
        </p:nvSpPr>
        <p:spPr>
          <a:xfrm>
            <a:off x="6583680" y="2926080"/>
            <a:ext cx="1737360" cy="457200"/>
          </a:xfrm>
          <a:prstGeom prst="rect">
            <a:avLst/>
          </a:prstGeom>
          <a:solidFill>
            <a:srgbClr val="1B2B3B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583680" y="292608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B4D8"/>
                </a:solidFill>
              </a:rPr>
              <a:t>Price Comparator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457200" y="36118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B70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Thank You!</a:t>
            </a:r>
            <a:endParaRPr lang="en-US" sz="3400" dirty="0"/>
          </a:p>
        </p:txBody>
      </p:sp>
      <p:sp>
        <p:nvSpPr>
          <p:cNvPr id="18" name="Text 15"/>
          <p:cNvSpPr/>
          <p:nvPr/>
        </p:nvSpPr>
        <p:spPr>
          <a:xfrm>
            <a:off x="457200" y="42519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8EAFC1"/>
                </a:solidFill>
              </a:rPr>
              <a:t>Questions? Let's build the future of local commerce together.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LocalMart Connect</dc:title>
  <dc:subject>PptxGenJS Presentation</dc:subject>
  <dc:creator>Hackathon Team</dc:creator>
  <cp:lastModifiedBy>Hackathon Team</cp:lastModifiedBy>
  <cp:revision>1</cp:revision>
  <dcterms:created xsi:type="dcterms:W3CDTF">2026-03-29T12:04:37Z</dcterms:created>
  <dcterms:modified xsi:type="dcterms:W3CDTF">2026-03-29T12:04:37Z</dcterms:modified>
</cp:coreProperties>
</file>